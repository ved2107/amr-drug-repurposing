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6" name="Image 0" descr="icons/title_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RESEARCH  //  AI-DRIVEN DRUG REPURPOSING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057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Screening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40080" y="2971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Framework for Automated Drug Repurposing Against AMR Threats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0080" y="3794760"/>
            <a:ext cx="2011680" cy="0"/>
          </a:xfrm>
          <a:prstGeom prst="line">
            <a:avLst/>
          </a:prstGeom>
          <a:noFill/>
          <a:ln w="38100">
            <a:solidFill>
              <a:srgbClr val="D645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023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dual-engine framework combining pathogen-aware machine learning with 3D molecular docking and retrospective clinical validation for MRSA, E. coli, K. pneumoniae, and M. tuberculosis.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Drug Repurposing?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new medical uses for existing, already-approved medications — outside their original scope.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30552" cy="2331720"/>
          </a:xfrm>
          <a:prstGeom prst="roundRect">
            <a:avLst>
              <a:gd name="adj" fmla="val 3433"/>
            </a:avLst>
          </a:prstGeom>
          <a:solidFill>
            <a:srgbClr val="EAF2F5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23317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concept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468" y="246888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063240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Thalidomide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35204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sickness (1950s)
</a:t>
            </a:r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Leprosy complications &amp; multiple myeloma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16352" y="2148840"/>
            <a:ext cx="2130552" cy="2331720"/>
          </a:xfrm>
          <a:prstGeom prst="roundRect">
            <a:avLst>
              <a:gd name="adj" fmla="val 3433"/>
            </a:avLst>
          </a:prstGeom>
          <a:solidFill>
            <a:srgbClr val="EAF2F5"/>
          </a:solidFill>
          <a:ln/>
        </p:spPr>
      </p:sp>
      <p:sp>
        <p:nvSpPr>
          <p:cNvPr id="11" name="Shape 8"/>
          <p:cNvSpPr/>
          <p:nvPr/>
        </p:nvSpPr>
        <p:spPr>
          <a:xfrm>
            <a:off x="3589020" y="23317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concept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46888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6080" y="3063240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Aspirin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80944" y="35204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&amp; fever relief
</a:t>
            </a:r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heart attacks &amp; strokes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84064" y="2148840"/>
            <a:ext cx="2130552" cy="2331720"/>
          </a:xfrm>
          <a:prstGeom prst="roundRect">
            <a:avLst>
              <a:gd name="adj" fmla="val 3433"/>
            </a:avLst>
          </a:prstGeom>
          <a:solidFill>
            <a:srgbClr val="EAF2F5"/>
          </a:solidFill>
          <a:ln/>
        </p:spPr>
      </p:sp>
      <p:sp>
        <p:nvSpPr>
          <p:cNvPr id="16" name="Shape 12"/>
          <p:cNvSpPr/>
          <p:nvPr/>
        </p:nvSpPr>
        <p:spPr>
          <a:xfrm>
            <a:off x="5856732" y="23317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s/concept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892" y="246888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93792" y="3063240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Sildenafil (Viagra)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48656" y="35204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 (angina)
</a:t>
            </a:r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Erectile dysfunction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5102352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983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Crisis Response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deployment of existing manufacturing &amp; supply chains during pandemics.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17920" y="5102352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4" name="Text 19"/>
          <p:cNvSpPr/>
          <p:nvPr/>
        </p:nvSpPr>
        <p:spPr>
          <a:xfrm>
            <a:off x="6473952" y="4983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&amp; Money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timelines from 10+ years to 3–5 years; saves hundreds of millions.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5669280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1"/>
          <p:cNvSpPr/>
          <p:nvPr/>
        </p:nvSpPr>
        <p:spPr>
          <a:xfrm>
            <a:off x="804672" y="55504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Safety Risk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already proven in humans — bypasses early-trial failures.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217920" y="5669280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8" name="Text 23"/>
          <p:cNvSpPr/>
          <p:nvPr/>
        </p:nvSpPr>
        <p:spPr>
          <a:xfrm>
            <a:off x="6473952" y="55504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Revives Dead Molecules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Breathes new life into failed/restricted drugs like Thalidomide.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6236208"/>
            <a:ext cx="128016" cy="128016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0" name="Text 25"/>
          <p:cNvSpPr/>
          <p:nvPr/>
        </p:nvSpPr>
        <p:spPr>
          <a:xfrm>
            <a:off x="804672" y="61173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Rare Disease Cures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neglected-disease research financially viable.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ANALYZED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Present Crisis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94610" cy="1874520"/>
          </a:xfrm>
          <a:prstGeom prst="roundRect">
            <a:avLst>
              <a:gd name="adj" fmla="val 2927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4117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1.27M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2265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globally every year from multi-drug resistant superbugs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71850" y="1600200"/>
            <a:ext cx="2594610" cy="1874520"/>
          </a:xfrm>
          <a:prstGeom prst="roundRect">
            <a:avLst>
              <a:gd name="adj" fmla="val 2927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63290" y="1737360"/>
            <a:ext cx="24117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36442" y="2514600"/>
            <a:ext cx="2265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antibiotic classes discovered &amp; approved in the last three decades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95060" y="1600200"/>
            <a:ext cx="2594610" cy="1874520"/>
          </a:xfrm>
          <a:prstGeom prst="roundRect">
            <a:avLst>
              <a:gd name="adj" fmla="val 2927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6500" y="1737360"/>
            <a:ext cx="24117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9652" y="2514600"/>
            <a:ext cx="2265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to bring one new antibiotic to market from scratch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18270" y="1600200"/>
            <a:ext cx="2594610" cy="1874520"/>
          </a:xfrm>
          <a:prstGeom prst="roundRect">
            <a:avLst>
              <a:gd name="adj" fmla="val 2927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9710" y="1737360"/>
            <a:ext cx="24117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2862" y="2514600"/>
            <a:ext cx="22654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required for a single new antibiotic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laboratory drug screening is too slow — humans cannot manually screen thousands of existing chemicals fast enough to catch up to mutating bacteria. These superbugs convert routine human conditions — UTIs, skin scratches, pneumonia — into lethal, untreatable bloodstream sepsis and septic shock.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8120" y="379476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PROJECT'S 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92440" y="429768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faster, lower-cost alternative: repurposing drugs already proven safe in humans.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AI, NOT CLASSICAL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Repurposing vs. Our AI-Driven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017520" y="1554480"/>
            <a:ext cx="4242816" cy="502920"/>
          </a:xfrm>
          <a:prstGeom prst="roundRect">
            <a:avLst>
              <a:gd name="adj" fmla="val 9091"/>
            </a:avLst>
          </a:prstGeom>
          <a:solidFill>
            <a:srgbClr val="C9D6DE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1554480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Repurposing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70064" y="1554480"/>
            <a:ext cx="4242816" cy="50292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70064" y="1554480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AI-Driven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64240" cy="768096"/>
          </a:xfrm>
          <a:prstGeom prst="rect">
            <a:avLst/>
          </a:prstGeom>
          <a:solidFill>
            <a:srgbClr val="EAF2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Method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214884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/ random observation (serendipity)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70064" y="2148840"/>
            <a:ext cx="4242816" cy="768096"/>
          </a:xfrm>
          <a:prstGeom prst="rect">
            <a:avLst/>
          </a:prstGeom>
          <a:solidFill>
            <a:srgbClr val="EA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7461504" y="2148840"/>
            <a:ext cx="4059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automated data screening via live APIs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90088"/>
            <a:ext cx="11064240" cy="768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9008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Speed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08960" y="2990088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years of slow, manual lab testing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70064" y="2990088"/>
            <a:ext cx="4242816" cy="768096"/>
          </a:xfrm>
          <a:prstGeom prst="rect">
            <a:avLst/>
          </a:prstGeom>
          <a:solidFill>
            <a:srgbClr val="EA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7461504" y="2990088"/>
            <a:ext cx="4059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scan thousands of chemical profiles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31336"/>
            <a:ext cx="11064240" cy="768096"/>
          </a:xfrm>
          <a:prstGeom prst="rect">
            <a:avLst/>
          </a:prstGeom>
          <a:solidFill>
            <a:srgbClr val="EAF2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3133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 Awareness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108960" y="3831336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cell-wall differences until wet-lab testing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70064" y="3831336"/>
            <a:ext cx="4242816" cy="768096"/>
          </a:xfrm>
          <a:prstGeom prst="rect">
            <a:avLst/>
          </a:prstGeom>
          <a:solidFill>
            <a:srgbClr val="EA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61504" y="3831336"/>
            <a:ext cx="4059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Class-aware algorithmic filtering of membrane armour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72584"/>
            <a:ext cx="11064240" cy="768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72584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08960" y="4672584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entirely on trial-and-error cell culture assays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70064" y="4672584"/>
            <a:ext cx="4242816" cy="768096"/>
          </a:xfrm>
          <a:prstGeom prst="rect">
            <a:avLst/>
          </a:prstGeom>
          <a:solidFill>
            <a:srgbClr val="EA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61504" y="4672584"/>
            <a:ext cx="4059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3D docking physics + clinical trial emulation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513832"/>
            <a:ext cx="11064240" cy="768096"/>
          </a:xfrm>
          <a:prstGeom prst="rect">
            <a:avLst/>
          </a:prstGeom>
          <a:solidFill>
            <a:srgbClr val="EAF2F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51383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Efficiency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108960" y="551383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labour costs, low accidental success rates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70064" y="5513832"/>
            <a:ext cx="4242816" cy="768096"/>
          </a:xfrm>
          <a:prstGeom prst="rect">
            <a:avLst/>
          </a:prstGeom>
          <a:solidFill>
            <a:srgbClr val="EA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7461504" y="5513832"/>
            <a:ext cx="40599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costs, powered by open-source computing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Superbugs Causing MDR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35680" cy="3063240"/>
          </a:xfrm>
          <a:prstGeom prst="roundRect">
            <a:avLst>
              <a:gd name="adj" fmla="val 2090"/>
            </a:avLst>
          </a:prstGeom>
          <a:solidFill>
            <a:srgbClr val="EAF2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53568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830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icons/mr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019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359152"/>
            <a:ext cx="313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GRAM-POSITIVE BLUEPRINT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9808" y="2606040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MRSA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063240"/>
            <a:ext cx="3133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thick, heavily cross-linked peptidoglycan cell layer. Deploys a mutated PBP2a protein — an un-lockable padlock that stops penicillin-class antibiotics from destroying its wall.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2920" y="1508760"/>
            <a:ext cx="3535680" cy="3063240"/>
          </a:xfrm>
          <a:prstGeom prst="roundRect">
            <a:avLst>
              <a:gd name="adj" fmla="val 2090"/>
            </a:avLst>
          </a:prstGeom>
          <a:solidFill>
            <a:srgbClr val="EA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4312920" y="1508760"/>
            <a:ext cx="35356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451408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icons/gramn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960" y="190195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4088" y="2359152"/>
            <a:ext cx="313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GRAM-NEGATIVE BARRIER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14088" y="2606040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 coli &amp; K. pneumoniae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14088" y="3063240"/>
            <a:ext cx="3133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dual-membrane defense with an outer lipopolysaccharide layer. E. coli over-expresses efflux pumps that vacuum drugs out; K. pneumoniae secretes carbapenemase enzymes that chop up last-resort antibiotics.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77200" y="1508760"/>
            <a:ext cx="3535680" cy="3063240"/>
          </a:xfrm>
          <a:prstGeom prst="roundRect">
            <a:avLst>
              <a:gd name="adj" fmla="val 2090"/>
            </a:avLst>
          </a:prstGeom>
          <a:solidFill>
            <a:srgbClr val="EAF2F5"/>
          </a:solidFill>
          <a:ln/>
        </p:spPr>
      </p:sp>
      <p:sp>
        <p:nvSpPr>
          <p:cNvPr id="19" name="Shape 15"/>
          <p:cNvSpPr/>
          <p:nvPr/>
        </p:nvSpPr>
        <p:spPr>
          <a:xfrm>
            <a:off x="8077200" y="1508760"/>
            <a:ext cx="35356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6"/>
          <p:cNvSpPr/>
          <p:nvPr/>
        </p:nvSpPr>
        <p:spPr>
          <a:xfrm>
            <a:off x="8278368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icons/t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901952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8368" y="2359152"/>
            <a:ext cx="3133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ACID-FAST BACILLUS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78368" y="2606040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tuberculosis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278368" y="3063240"/>
            <a:ext cx="3133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ultra-resilient, waxy outer shell dominated by mycolic acids. Alters its InhA pathway, shielding its thick membrane from standard therapeutic agents.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475488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21295C"/>
          </a:solidFill>
          <a:ln/>
        </p:spPr>
      </p:sp>
      <p:sp>
        <p:nvSpPr>
          <p:cNvPr id="26" name="Text 21"/>
          <p:cNvSpPr/>
          <p:nvPr/>
        </p:nvSpPr>
        <p:spPr>
          <a:xfrm>
            <a:off x="77724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FOUR?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519379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Structural Diversity: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entire spectrum of bacterial armor — if the AI works across these three defensive shells, it generalizes to all bacteria.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309360" y="519379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Priority Peak: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pathogens sit at the highest tier of mortality on the WHO Priority Pathogens List, addressing the most critical real-world healthcare demands.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a Fully Functional AI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05456" y="2029968"/>
            <a:ext cx="320040" cy="128016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169164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icons/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88366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09928" y="161848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0992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6517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017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openFDA Orange Book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ChEMBL Data Engine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82312" y="2029968"/>
            <a:ext cx="320040" cy="128016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12" name="Shape 9"/>
          <p:cNvSpPr/>
          <p:nvPr/>
        </p:nvSpPr>
        <p:spPr>
          <a:xfrm>
            <a:off x="3392424" y="1691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icons/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883664"/>
            <a:ext cx="438912" cy="438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986784" y="161848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86784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25496" y="26517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825496" y="3017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structural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(SMILES)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059168" y="2029968"/>
            <a:ext cx="320040" cy="128016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19" name="Shape 15"/>
          <p:cNvSpPr/>
          <p:nvPr/>
        </p:nvSpPr>
        <p:spPr>
          <a:xfrm>
            <a:off x="5669280" y="1691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ste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1883664"/>
            <a:ext cx="438912" cy="4389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63640" y="161848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6364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02352" y="26517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102352" y="3017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AI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model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336024" y="2029968"/>
            <a:ext cx="320040" cy="128016"/>
          </a:xfrm>
          <a:prstGeom prst="rightArrow">
            <a:avLst/>
          </a:prstGeom>
          <a:solidFill>
            <a:srgbClr val="C9D6DE"/>
          </a:solidFill>
          <a:ln/>
        </p:spPr>
      </p:sp>
      <p:sp>
        <p:nvSpPr>
          <p:cNvPr id="26" name="Shape 21"/>
          <p:cNvSpPr/>
          <p:nvPr/>
        </p:nvSpPr>
        <p:spPr>
          <a:xfrm>
            <a:off x="7946136" y="169164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3" descr="icons/step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883664"/>
            <a:ext cx="438912" cy="43891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540496" y="161848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540496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379208" y="26517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379208" y="3017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AutoDock Vina 3D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+ trial data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0222992" y="1691640"/>
            <a:ext cx="822960" cy="82296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33" name="Image 4" descr="icons/ste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16" y="1883664"/>
            <a:ext cx="438912" cy="43891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817352" y="1618488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455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0817352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656064" y="265176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656064" y="301752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548640" y="3794760"/>
            <a:ext cx="1106424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48640" y="393192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APIs crawl the highest-authority pharma databases, filtering for active, small-molecule, human-approved drugs.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2825496" y="393192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strings are translated into 1024-bit Morgan Fingerprints — a computable shape signature for every molecule.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5102352" y="393192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decision trees vote on each fingerprint, outputting a 0–100 probability of activity against MRSA, E. coli, Klebsiella &amp; TB.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7379208" y="393192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candidates are docked in AutoDock Vina (goal: &lt; –7.0 kcal/mol) and cross-checked against ClinicalTrials.gov history.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9656064" y="393192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Streamlit app displays Toxicity Profile, Multi-Pathogen AI Score, and 3D Binding Physics instantly.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109728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Drug Repurposed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AI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794760"/>
            <a:ext cx="1828800" cy="0"/>
          </a:xfrm>
          <a:prstGeom prst="line">
            <a:avLst/>
          </a:prstGeom>
          <a:noFill/>
          <a:ln w="38100">
            <a:solidFill>
              <a:srgbClr val="D64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023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worked walkthrough of one candidate as it moves through the five-stage pipeline — from database hit to AI score to physical docking to clinical validation.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Aspects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AF2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Upgrade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92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baseline ML to Graph Neural Networks (GNNs).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literal 3D atomic shapes and bond angles instead of flat text checklists.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AF2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19088" y="17099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95160" y="16733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SYNERGIZE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9842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Therapies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19088" y="2331720"/>
            <a:ext cx="4992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AI to locate non-antibiotic helper compounds (adjuvants).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drugs that weaken bacterial membranes to revive cheap, old antibiotics.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AF2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9044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86791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1788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Expansion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4526280"/>
            <a:ext cx="4992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underlying software with non-bacterial datasets.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the engine to discover hidden treatments for cancer, Alzheimer's &amp; rare diseases.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37033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EAF2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19088" y="3904488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386791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95160" y="41788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Fast-Tracked 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19088" y="4526280"/>
            <a:ext cx="4992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“Method of Use” patents for discovered drug indications.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FDA's 505(b)(2) pathway to secure immediate market exclusivity.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Framework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63677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&amp; Cheaper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0116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traditional 15-year, $1B timeline by finding hidden cures inside existing, safe medicines.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30540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Human Safety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34290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official FDA Orange Book and strict ADMET/Lipinski filters to avoid toxic molecules.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44714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Physics-Verified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48463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Double-checks the AI using AutoDock Vina to ensure drugs physically lock into mutated superbug enzymes.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93992" y="163677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Human-Approved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93992" y="20116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all final hits with real-world patient data from ClinicalTrials.gov.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108960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93992" y="30540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Endlessly Scalable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93992" y="34290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is disease-blind — the same code can be retrained tomorrow to fight cancer &amp; Alzheimer's.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23560" y="2377440"/>
            <a:ext cx="914400" cy="91440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5" name="Image 0" descr="icons/title_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58775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5661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Screening — An AI Framework for Automated Drug Repurposing Against AMR Threats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